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29184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0" y="0"/>
            <a:ext cx="2286000" cy="2286000"/>
          </a:xfrm>
          <a:prstGeom prst="ellipse">
            <a:avLst/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029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✈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23444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&amp; Hospitality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180136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1371600" cy="54864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43200"/>
            <a:ext cx="3291840" cy="804672"/>
          </a:xfrm>
          <a:prstGeom prst="rect">
            <a:avLst/>
          </a:prstGeom>
          <a:solidFill>
            <a:srgbClr val="1B3A6B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79806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85800" y="305409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0" y="2743200"/>
            <a:ext cx="4572000" cy="804672"/>
          </a:xfrm>
          <a:prstGeom prst="rect">
            <a:avLst/>
          </a:prstGeom>
          <a:solidFill>
            <a:srgbClr val="1B3A6B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51960" y="279806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51960" y="305409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Pandas  ·  Matplotlib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Priyanka Meti   &amp;   Dharanendra Upadhye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64008" cy="16642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389888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98755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Hotel Bookings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3716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into hotel booking datasets to uncover patterns and trends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41148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788920"/>
            <a:ext cx="64008" cy="16642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355848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88720" y="295351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Behavior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3375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how different customer types interact with booking systems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822960"/>
            <a:ext cx="41148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822960"/>
            <a:ext cx="64008" cy="16642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389888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❌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77840" y="98755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Cancellation Patterns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77840" y="13716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key factors that drive booking cancellations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788920"/>
            <a:ext cx="4114800" cy="166420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788920"/>
            <a:ext cx="64008" cy="16642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355848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577840" y="295351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Pricing Strategy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577840" y="333756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data insights to optimize pricing and increase revenue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Information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384048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3840480" cy="4572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503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SOURCE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180136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Booking Dataset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240280"/>
            <a:ext cx="3566160" cy="27432"/>
          </a:xfrm>
          <a:prstGeom prst="rect">
            <a:avLst/>
          </a:prstGeom>
          <a:solidFill>
            <a:srgbClr val="D1D9E0"/>
          </a:solidFill>
          <a:ln w="12700">
            <a:solidFill>
              <a:srgbClr val="D1D9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5000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Statistics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119K+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02920" y="307238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26974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691640" y="307238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880360" y="2697480"/>
            <a:ext cx="1143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2015-17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880360" y="3072384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480560" y="804672"/>
            <a:ext cx="429768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804672"/>
            <a:ext cx="4297680" cy="457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85039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DATASET INCLUDES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14721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🗓️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74920" y="14630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Details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74920" y="17465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dates, lead time, duration of stay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7720" y="2121408"/>
            <a:ext cx="4023360" cy="1828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2276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074920" y="22677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255117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Transient, contract, group, transient-party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17720" y="2926080"/>
            <a:ext cx="4023360" cy="1828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17720" y="30815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💵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074920" y="30723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Info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74920" y="335584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(Average Daily Rate) per booking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17720" y="3730752"/>
            <a:ext cx="4023360" cy="1828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17720" y="3886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🚫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074920" y="387705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Info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7492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booking was cancelled or not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22960"/>
            <a:ext cx="54864" cy="1115568"/>
          </a:xfrm>
          <a:prstGeom prst="rect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124712"/>
            <a:ext cx="502920" cy="502920"/>
          </a:xfrm>
          <a:prstGeom prst="ellipse">
            <a:avLst/>
          </a:prstGeom>
          <a:solidFill>
            <a:srgbClr val="3776AB"/>
          </a:solidFill>
          <a:ln w="12700">
            <a:solidFill>
              <a:srgbClr val="377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🐍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95097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1325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programming language for data analysis and automation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822960"/>
            <a:ext cx="54864" cy="1115568"/>
          </a:xfrm>
          <a:prstGeom prst="rect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0" y="1124712"/>
            <a:ext cx="502920" cy="502920"/>
          </a:xfrm>
          <a:prstGeom prst="ellipse">
            <a:avLst/>
          </a:prstGeom>
          <a:solidFill>
            <a:srgbClr val="150458"/>
          </a:solidFill>
          <a:ln w="12700">
            <a:solidFill>
              <a:srgbClr val="15045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🐼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577840" y="950976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1325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manipulation, cleaning and structured data operations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121408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121408"/>
            <a:ext cx="54864" cy="1115568"/>
          </a:xfrm>
          <a:prstGeom prst="rect">
            <a:avLst/>
          </a:prstGeom>
          <a:solidFill>
            <a:srgbClr val="013243"/>
          </a:solidFill>
          <a:ln w="12700">
            <a:solidFill>
              <a:srgbClr val="01324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13243"/>
          </a:solidFill>
          <a:ln w="12700">
            <a:solidFill>
              <a:srgbClr val="0132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414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🔢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88720" y="224942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88720" y="26243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computing and array-based operations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2121408"/>
            <a:ext cx="411480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121408"/>
            <a:ext cx="54864" cy="1115568"/>
          </a:xfrm>
          <a:prstGeom prst="rect">
            <a:avLst/>
          </a:prstGeom>
          <a:solidFill>
            <a:srgbClr val="11557C"/>
          </a:solidFill>
          <a:ln w="12700">
            <a:solidFill>
              <a:srgbClr val="1155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423160"/>
            <a:ext cx="502920" cy="502920"/>
          </a:xfrm>
          <a:prstGeom prst="ellipse">
            <a:avLst/>
          </a:prstGeom>
          <a:solidFill>
            <a:srgbClr val="11557C"/>
          </a:solidFill>
          <a:ln w="12700">
            <a:solidFill>
              <a:srgbClr val="1155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2414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77840" y="2249424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77840" y="2624328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and chart generation libraries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3419856"/>
            <a:ext cx="84124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419856"/>
            <a:ext cx="54864" cy="1115568"/>
          </a:xfrm>
          <a:prstGeom prst="rect">
            <a:avLst/>
          </a:prstGeom>
          <a:solidFill>
            <a:srgbClr val="F37626"/>
          </a:solidFill>
          <a:ln w="12700">
            <a:solidFill>
              <a:srgbClr val="F37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8640" y="3721608"/>
            <a:ext cx="502920" cy="502920"/>
          </a:xfrm>
          <a:prstGeom prst="ellipse">
            <a:avLst/>
          </a:prstGeom>
          <a:solidFill>
            <a:srgbClr val="F37626"/>
          </a:solidFill>
          <a:ln w="12700">
            <a:solidFill>
              <a:srgbClr val="F37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7124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📓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188720" y="3547872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188720" y="3922776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development environment for data exploration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1 - Data Cleaning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86384"/>
            <a:ext cx="960120" cy="3840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863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84124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16736"/>
            <a:ext cx="54864" cy="78638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481328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3856" y="1408176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 Remove Missing Values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3856" y="1719072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and dropped rows with null/NaN values that could not be recovered or imputed accurately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231136"/>
            <a:ext cx="84124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231136"/>
            <a:ext cx="54864" cy="78638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395728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3957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33856" y="2322576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Fill Missing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33856" y="2633472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'agent' and 'company' columns filled with 0 — representing bookings with no agent or company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145536"/>
            <a:ext cx="84124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45536"/>
            <a:ext cx="54864" cy="78638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310128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3101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33856" y="3236976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Remove Duplicates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33856" y="3547872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and eliminated exact duplicate rows across all columns to ensure data integrity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4059936"/>
            <a:ext cx="8412480" cy="786384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059936"/>
            <a:ext cx="54864" cy="786384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224528"/>
            <a:ext cx="457200" cy="45720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224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33856" y="4151376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Handle Outliers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33856" y="4462272"/>
            <a:ext cx="7223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extreme values in ADR and stay duration columns; treated with capping and removal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2 - Data Preparation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86384"/>
            <a:ext cx="960120" cy="3840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863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5394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16736"/>
            <a:ext cx="54864" cy="10789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591056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5727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🔄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170432" y="140817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Data Types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70432" y="177393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Ensured numeric columns (ADR, lead_time) are stored as int/float rather than string objects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5394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551176"/>
            <a:ext cx="54864" cy="10789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825496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8072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📅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70432" y="264261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Columns to Proper Format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70432" y="300837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arrival_date_month converted to numeric; date columns parsed using datetime format for time-based analysis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85616"/>
            <a:ext cx="539496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785616"/>
            <a:ext cx="54864" cy="107899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059936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4164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🗂️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70432" y="3877056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Dataset Properly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70432" y="424281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reordered logically, index reset after all cleaning and preparation operations completed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1316736"/>
            <a:ext cx="2743200" cy="3721608"/>
          </a:xfrm>
          <a:prstGeom prst="rect">
            <a:avLst/>
          </a:prstGeom>
          <a:solidFill>
            <a:srgbClr val="1B3A6B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172200" y="14630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Why This Matters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172200" y="1901952"/>
            <a:ext cx="24688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Wrong data types cause analysis errors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Proper formats enable date-based calculations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Clean structure speeds up processing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Reduces bugs in visualizations</a:t>
            </a:r>
            <a:endParaRPr lang="en-US" sz="10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5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Ensures accurate model inputs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3 - Feature Engineering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786384"/>
            <a:ext cx="960120" cy="3840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8638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316736"/>
            <a:ext cx="8412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316736"/>
            <a:ext cx="841248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FEATURE  CREATED  —  Total Stay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1938528"/>
            <a:ext cx="2286000" cy="4754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3852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Nights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1920240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3657600" y="1938528"/>
            <a:ext cx="2286000" cy="47548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0" y="193852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Nights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1920240"/>
            <a:ext cx="457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583680" y="1938528"/>
            <a:ext cx="2011680" cy="47548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9385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Stay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252374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Code:   df['total_stay'] = df['stays_in_weekend_nights'] + df['stays_in_week_nights']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272491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383280"/>
            <a:ext cx="2724912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511296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021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📏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1078992" y="35387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Stay Duration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9776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by short vs long stays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18688" y="3383280"/>
            <a:ext cx="272491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18688" y="3383280"/>
            <a:ext cx="2724912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55848" y="3511296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35021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💡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3931920" y="35387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Analysis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55848" y="39776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feature reveals patterns hidden in raw columns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71616" y="3383280"/>
            <a:ext cx="2724912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71616" y="3383280"/>
            <a:ext cx="2724912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08776" y="3511296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08776" y="35021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000000"/>
                </a:solidFill>
              </a:rPr>
              <a:t>📉</a:t>
            </a:r>
            <a:endParaRPr lang="en-US" sz="1900" dirty="0"/>
          </a:p>
        </p:txBody>
      </p:sp>
      <p:sp>
        <p:nvSpPr>
          <p:cNvPr id="36" name="Text 34"/>
          <p:cNvSpPr/>
          <p:nvPr/>
        </p:nvSpPr>
        <p:spPr>
          <a:xfrm>
            <a:off x="6784848" y="353872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Link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08776" y="3977640"/>
            <a:ext cx="2468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stays often correlate with lower cancellation rates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393192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393192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85039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Was Analyzed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1499616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4996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📅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115568" y="14813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Trends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15568" y="1792224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seasonal booking volumes and patterns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359152"/>
            <a:ext cx="3566160" cy="1828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" y="2633472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6334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15568" y="261518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Distribution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15568" y="29260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distribution across different hotel types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3493008"/>
            <a:ext cx="3566160" cy="1828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3767328"/>
            <a:ext cx="475488" cy="47548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👥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15568" y="374904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4059936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Transient, contract, and group booking breakdown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804672"/>
            <a:ext cx="4206240" cy="4041648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804672"/>
            <a:ext cx="4206240" cy="43891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8503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Relationships Found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1389888"/>
            <a:ext cx="96012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3898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Time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742432" y="1426464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3056" y="1389888"/>
            <a:ext cx="960120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63056" y="1389888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9160" y="184708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 made far in advance are more likely to be cancelled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395728"/>
            <a:ext cx="3840480" cy="1828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2523744"/>
            <a:ext cx="96012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5237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Type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42432" y="2560320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163056" y="2523744"/>
            <a:ext cx="96012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2523744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09160" y="29809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customers form the majority and show distinct patterns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529584"/>
            <a:ext cx="3840480" cy="18288"/>
          </a:xfrm>
          <a:prstGeom prst="rect">
            <a:avLst/>
          </a:prstGeom>
          <a:solidFill>
            <a:srgbClr val="E9ECEF"/>
          </a:solidFill>
          <a:ln w="12700">
            <a:solidFill>
              <a:srgbClr val="E9ECE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3657600"/>
            <a:ext cx="960120" cy="3840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6576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42432" y="3694176"/>
            <a:ext cx="347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163056" y="3657600"/>
            <a:ext cx="960120" cy="38404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63056" y="365760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9160" y="411480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demand periods correlate directly with elevated pricing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reveals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11155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22960"/>
            <a:ext cx="64008" cy="11155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383280" y="914400"/>
            <a:ext cx="100584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14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152144" y="914400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Lead Time  →  More Cancellations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52144" y="128016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booking months ahead are significantly more likely to cancel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822960"/>
            <a:ext cx="4114800" cy="11155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822960"/>
            <a:ext cx="64008" cy="11155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9472" y="1115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772400" y="914400"/>
            <a:ext cx="1005840" cy="274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9144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541264" y="914400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Customers Cancel More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41264" y="1280160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Transient bookings have the highest cancellation rates of all types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139696"/>
            <a:ext cx="4114800" cy="11155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139696"/>
            <a:ext cx="64008" cy="11155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2432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🏙️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3383280" y="2231136"/>
            <a:ext cx="1005840" cy="274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2311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152144" y="2231136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Hotels  →  Higher Cancellations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" y="2596896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hotels see more cancellations compared to resort hotels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139696"/>
            <a:ext cx="4114800" cy="11155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0" y="2139696"/>
            <a:ext cx="64008" cy="1115568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432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💻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7772400" y="2231136"/>
            <a:ext cx="1005840" cy="274320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0" y="22311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541264" y="2231136"/>
            <a:ext cx="2121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Bookings  →  Higher Cancellations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41264" y="2596896"/>
            <a:ext cx="3090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OTA (Online Travel Agency) channel drives higher cancellation rates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3456432"/>
            <a:ext cx="8412480" cy="11155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65760" y="3456432"/>
            <a:ext cx="64008" cy="11155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3749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680960" y="3547872"/>
            <a:ext cx="1005840" cy="2743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80960" y="35478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1152144" y="3547872"/>
            <a:ext cx="6419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Up  →  Price Up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152144" y="3913632"/>
            <a:ext cx="73883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correlation between demand peaks and ADR price increases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97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804672"/>
            <a:ext cx="411480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87552"/>
            <a:ext cx="566928" cy="566928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87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88720" y="96926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High-Risk Customers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737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bookings likely to cancel using predictive indicators, enabling proactive outreach and retention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0" y="969264"/>
            <a:ext cx="1234440" cy="65836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9692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08960" y="13350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Potential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754880" y="80467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04672"/>
            <a:ext cx="41148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987552"/>
            <a:ext cx="566928" cy="56692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9875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💲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77840" y="96926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Pricing Strategy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7373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based on demand patterns and lead time to maximize Average Daily Rate (ADR)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98080" y="969264"/>
            <a:ext cx="1234440" cy="65836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0" y="96926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98080" y="133502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Uplift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295351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953512"/>
            <a:ext cx="4114800" cy="64008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136392"/>
            <a:ext cx="566928" cy="566928"/>
          </a:xfrm>
          <a:prstGeom prst="ellipse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36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🚫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88720" y="311810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Cancellations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3886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policies for high-risk segments — deposits, flexible rates, and reminder campaigns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08960" y="3118104"/>
            <a:ext cx="1234440" cy="658368"/>
          </a:xfrm>
          <a:prstGeom prst="rect">
            <a:avLst/>
          </a:prstGeom>
          <a:solidFill>
            <a:srgbClr val="6A4C93"/>
          </a:solidFill>
          <a:ln w="12700">
            <a:solidFill>
              <a:srgbClr val="6A4C9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311810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3108960" y="34838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Cancellations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754880" y="2953512"/>
            <a:ext cx="411480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953512"/>
            <a:ext cx="41148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92040" y="3136392"/>
            <a:ext cx="566928" cy="566928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3136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5577840" y="3118104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Revenue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92040" y="3886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effect of smarter pricing and fewer cancellations significantly boosts net income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98080" y="3118104"/>
            <a:ext cx="1234440" cy="65836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98080" y="3118104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20%+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498080" y="348386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560320"/>
            <a:ext cx="3474720" cy="34747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from this project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8275320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987552"/>
            <a:ext cx="64008" cy="11430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1124712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17320" y="107899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Data Cleaning is Crucial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146304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clean data, no analysis is reliable. Handling missing values, duplicates and outliers is the foundation of every data project.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8275320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359152"/>
            <a:ext cx="64008" cy="11430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496312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17320" y="245059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EDA Gives Meaningful Insights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283464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 reveals hidden patterns and relationships that guide deeper investigation and business decision-making.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730752"/>
            <a:ext cx="8275320" cy="1143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730752"/>
            <a:ext cx="64008" cy="11430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867912"/>
            <a:ext cx="566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3822192"/>
            <a:ext cx="7132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Drives Business Decisions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417320" y="4206240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BD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insights generated directly inform actionable strategies: dynamic pricing, customer targeting, and cancellation risk management.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-1097280"/>
            <a:ext cx="3840480" cy="3840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2468880"/>
            <a:ext cx="3840480" cy="38404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2331720"/>
            <a:ext cx="914400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41148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🙏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1261872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828800" y="1947672"/>
            <a:ext cx="5486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71600" y="2578608"/>
            <a:ext cx="2743200" cy="1508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578608"/>
            <a:ext cx="274320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70662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👩‍💻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371600" y="32369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 Meti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2578608"/>
            <a:ext cx="2743200" cy="1508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2578608"/>
            <a:ext cx="2743200" cy="6400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2706624"/>
            <a:ext cx="2743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👨‍💻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029200" y="32369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Dharanendra Upadhye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3566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Travel &amp; Hospitality Data Analysis</dc:title>
  <dc:subject>PptxGenJS Presentation</dc:subject>
  <dc:creator>PptxGenJS</dc:creator>
  <cp:lastModifiedBy>PptxGenJS</cp:lastModifiedBy>
  <cp:revision>1</cp:revision>
  <dcterms:created xsi:type="dcterms:W3CDTF">2026-03-28T12:05:09Z</dcterms:created>
  <dcterms:modified xsi:type="dcterms:W3CDTF">2026-03-28T12:05:09Z</dcterms:modified>
</cp:coreProperties>
</file>